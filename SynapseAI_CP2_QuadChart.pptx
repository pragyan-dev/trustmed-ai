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3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7044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8C1D4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55448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C6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Synapse AI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3840480" y="13716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 2 Quad Chart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046720" y="1371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FFC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Neuro-Symbolic Clinical Decision Support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080760" y="960120"/>
            <a:ext cx="0" cy="5440680"/>
          </a:xfrm>
          <a:prstGeom prst="line">
            <a:avLst/>
          </a:prstGeom>
          <a:noFill/>
          <a:ln w="317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74320" y="3639312"/>
            <a:ext cx="11612880" cy="0"/>
          </a:xfrm>
          <a:prstGeom prst="line">
            <a:avLst/>
          </a:prstGeom>
          <a:noFill/>
          <a:ln w="317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274320" y="1051560"/>
            <a:ext cx="54864" cy="251460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972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2960" y="1051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 (KPIs)</a:t>
            </a:r>
            <a:endParaRPr lang="en-US" sz="18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508760"/>
            <a:ext cx="182880" cy="1828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31520" y="14630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</a:rPr>
              <a:t>MIMIC + Neo4j Validation Complete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MIMIC-IV schema aligned with Neo4j graph nodes; patient context retrieval verified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847088"/>
            <a:ext cx="182880" cy="1828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31520" y="180136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</a:rPr>
              <a:t>Vision-Text Integration Complete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MedGemma 27B on Vertex AI + BiomedCLIP; image captions fused with clinical text context</a:t>
            </a:r>
            <a:endParaRPr lang="en-US" sz="11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185416"/>
            <a:ext cx="182880" cy="18288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31520" y="213969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</a:rPr>
              <a:t>SOAP Note Generator Deployed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Patient context + vitals history → structured SOAP notes via streaming LLM pipeline</a:t>
            </a:r>
            <a:endParaRPr lang="en-US" sz="11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523744"/>
            <a:ext cx="182880" cy="18288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31520" y="247802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</a:rPr>
              <a:t>Drug Safety Pipeline Operational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Neo4j graph traversal: interactions, contraindications, QT prolongation, Beers criteria</a:t>
            </a:r>
            <a:endParaRPr lang="en-US" sz="11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862072"/>
            <a:ext cx="182880" cy="18288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731520" y="281635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</a:rPr>
              <a:t>Full-Stack Application Deployed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Next.js App Router + FastAPI; clinician dashboard, patient portal, SSE streaming</a:t>
            </a:r>
            <a:endParaRPr lang="en-US" sz="1100" dirty="0"/>
          </a:p>
        </p:txBody>
      </p:sp>
      <p:sp>
        <p:nvSpPr>
          <p:cNvPr id="22" name="Shape 13"/>
          <p:cNvSpPr/>
          <p:nvPr/>
        </p:nvSpPr>
        <p:spPr>
          <a:xfrm>
            <a:off x="6263640" y="1051560"/>
            <a:ext cx="54864" cy="25146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4"/>
          <p:cNvSpPr/>
          <p:nvPr/>
        </p:nvSpPr>
        <p:spPr>
          <a:xfrm>
            <a:off x="6446520" y="1097280"/>
            <a:ext cx="274320" cy="274320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3096" y="1133856"/>
            <a:ext cx="201168" cy="201168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6812280" y="1051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 ACTION ITEM LIST</a:t>
            </a:r>
            <a:endParaRPr lang="en-US" sz="18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4670261"/>
              </p:ext>
            </p:extLst>
          </p:nvPr>
        </p:nvGraphicFramePr>
        <p:xfrm>
          <a:off x="6400800" y="1508760"/>
          <a:ext cx="5257800" cy="1874520"/>
        </p:xfrm>
        <a:graphic>
          <a:graphicData uri="http://schemas.openxmlformats.org/drawingml/2006/table">
            <a:tbl>
              <a:tblPr/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00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8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 Item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565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Safety critic layer refinement &amp; edge cases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Pranav, Pragyan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 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565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Performance testing within system architecture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Pritish, Mansi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 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565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Scale-to-zero MedGemma for cost optimization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Chandana, Mansi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 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565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Improve vision model accuracy (target &gt;50% F1)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Pragyan, Mansi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 14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565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 evaluation report &amp; demo preparation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Pranav, Chandana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 18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7" name="Shape 16"/>
          <p:cNvSpPr/>
          <p:nvPr/>
        </p:nvSpPr>
        <p:spPr>
          <a:xfrm>
            <a:off x="274320" y="3763846"/>
            <a:ext cx="54864" cy="2697480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931920"/>
            <a:ext cx="274320" cy="274320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822960" y="3886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&amp; BARRIERS</a:t>
            </a:r>
            <a:endParaRPr lang="en-US" sz="1800" dirty="0"/>
          </a:p>
        </p:txBody>
      </p:sp>
      <p:sp>
        <p:nvSpPr>
          <p:cNvPr id="30" name="Shape 18"/>
          <p:cNvSpPr/>
          <p:nvPr/>
        </p:nvSpPr>
        <p:spPr>
          <a:xfrm>
            <a:off x="457200" y="4361688"/>
            <a:ext cx="502920" cy="201168"/>
          </a:xfrm>
          <a:prstGeom prst="roundRect">
            <a:avLst>
              <a:gd name="adj" fmla="val 18182"/>
            </a:avLst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19"/>
          <p:cNvSpPr/>
          <p:nvPr/>
        </p:nvSpPr>
        <p:spPr>
          <a:xfrm>
            <a:off x="457200" y="43616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50" dirty="0"/>
          </a:p>
        </p:txBody>
      </p:sp>
      <p:sp>
        <p:nvSpPr>
          <p:cNvPr id="32" name="Text 20"/>
          <p:cNvSpPr/>
          <p:nvPr/>
        </p:nvSpPr>
        <p:spPr>
          <a:xfrm>
            <a:off x="1051560" y="431596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</a:rPr>
              <a:t>Vision Model Accuracy Gap</a:t>
            </a:r>
            <a:endParaRPr lang="en-US" sz="1100" dirty="0"/>
          </a:p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34.7% Macro F1 on MIMIC-CXR; 62.3% hallucination rate on non-CheXpert findings</a:t>
            </a:r>
            <a:endParaRPr lang="en-US" sz="1100" dirty="0"/>
          </a:p>
        </p:txBody>
      </p:sp>
      <p:sp>
        <p:nvSpPr>
          <p:cNvPr id="33" name="Shape 21"/>
          <p:cNvSpPr/>
          <p:nvPr/>
        </p:nvSpPr>
        <p:spPr>
          <a:xfrm>
            <a:off x="457200" y="4764024"/>
            <a:ext cx="502920" cy="201168"/>
          </a:xfrm>
          <a:prstGeom prst="roundRect">
            <a:avLst>
              <a:gd name="adj" fmla="val 18182"/>
            </a:avLst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2"/>
          <p:cNvSpPr/>
          <p:nvPr/>
        </p:nvSpPr>
        <p:spPr>
          <a:xfrm>
            <a:off x="457200" y="476402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50" dirty="0"/>
          </a:p>
        </p:txBody>
      </p:sp>
      <p:sp>
        <p:nvSpPr>
          <p:cNvPr id="35" name="Text 23"/>
          <p:cNvSpPr/>
          <p:nvPr/>
        </p:nvSpPr>
        <p:spPr>
          <a:xfrm>
            <a:off x="1051560" y="471830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</a:rPr>
              <a:t>MedGemma Inference Cost</a:t>
            </a:r>
            <a:endParaRPr lang="en-US" sz="1100" dirty="0"/>
          </a:p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$5/hr GPU cost without scale-to-zero; cold start latency ~180s after idle</a:t>
            </a:r>
            <a:endParaRPr lang="en-US" sz="1100" dirty="0"/>
          </a:p>
        </p:txBody>
      </p:sp>
      <p:sp>
        <p:nvSpPr>
          <p:cNvPr id="36" name="Shape 24"/>
          <p:cNvSpPr/>
          <p:nvPr/>
        </p:nvSpPr>
        <p:spPr>
          <a:xfrm>
            <a:off x="457200" y="5166360"/>
            <a:ext cx="502920" cy="201168"/>
          </a:xfrm>
          <a:prstGeom prst="roundRect">
            <a:avLst>
              <a:gd name="adj" fmla="val 18182"/>
            </a:avLst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25"/>
          <p:cNvSpPr/>
          <p:nvPr/>
        </p:nvSpPr>
        <p:spPr>
          <a:xfrm>
            <a:off x="457200" y="516636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50" dirty="0"/>
          </a:p>
        </p:txBody>
      </p:sp>
      <p:sp>
        <p:nvSpPr>
          <p:cNvPr id="38" name="Text 26"/>
          <p:cNvSpPr/>
          <p:nvPr/>
        </p:nvSpPr>
        <p:spPr>
          <a:xfrm>
            <a:off x="1051560" y="51206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</a:rPr>
              <a:t>Drug Alert Signal Filtering</a:t>
            </a:r>
            <a:endParaRPr lang="en-US" sz="1100" dirty="0"/>
          </a:p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Raw Neo4j output mixes treatment text with safety alerts; requires deterministic filtering</a:t>
            </a:r>
            <a:endParaRPr lang="en-US" sz="1100" dirty="0"/>
          </a:p>
        </p:txBody>
      </p:sp>
      <p:sp>
        <p:nvSpPr>
          <p:cNvPr id="39" name="Shape 27"/>
          <p:cNvSpPr/>
          <p:nvPr/>
        </p:nvSpPr>
        <p:spPr>
          <a:xfrm>
            <a:off x="457200" y="5568696"/>
            <a:ext cx="502920" cy="201168"/>
          </a:xfrm>
          <a:prstGeom prst="roundRect">
            <a:avLst>
              <a:gd name="adj" fmla="val 18182"/>
            </a:avLst>
          </a:prstGeom>
          <a:solidFill>
            <a:srgbClr val="E65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28"/>
          <p:cNvSpPr/>
          <p:nvPr/>
        </p:nvSpPr>
        <p:spPr>
          <a:xfrm>
            <a:off x="457200" y="556869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750" dirty="0"/>
          </a:p>
        </p:txBody>
      </p:sp>
      <p:sp>
        <p:nvSpPr>
          <p:cNvPr id="41" name="Text 29"/>
          <p:cNvSpPr/>
          <p:nvPr/>
        </p:nvSpPr>
        <p:spPr>
          <a:xfrm>
            <a:off x="1051560" y="552297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</a:rPr>
              <a:t>Free Model Rate Limiting</a:t>
            </a:r>
            <a:endParaRPr lang="en-US" sz="1100" dirty="0"/>
          </a:p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OpenRouter free-tier models (GPT-OSS, Nemotron) hit 429 rate limits under load</a:t>
            </a:r>
            <a:endParaRPr lang="en-US" sz="1100" dirty="0"/>
          </a:p>
        </p:txBody>
      </p:sp>
      <p:sp>
        <p:nvSpPr>
          <p:cNvPr id="42" name="Shape 30"/>
          <p:cNvSpPr/>
          <p:nvPr/>
        </p:nvSpPr>
        <p:spPr>
          <a:xfrm>
            <a:off x="457200" y="5971032"/>
            <a:ext cx="502920" cy="201168"/>
          </a:xfrm>
          <a:prstGeom prst="roundRect">
            <a:avLst>
              <a:gd name="adj" fmla="val 18182"/>
            </a:avLst>
          </a:prstGeom>
          <a:solidFill>
            <a:srgbClr val="E65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1"/>
          <p:cNvSpPr/>
          <p:nvPr/>
        </p:nvSpPr>
        <p:spPr>
          <a:xfrm>
            <a:off x="457200" y="59710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750" dirty="0"/>
          </a:p>
        </p:txBody>
      </p:sp>
      <p:sp>
        <p:nvSpPr>
          <p:cNvPr id="44" name="Text 32"/>
          <p:cNvSpPr/>
          <p:nvPr/>
        </p:nvSpPr>
        <p:spPr>
          <a:xfrm>
            <a:off x="1051560" y="592531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</a:rPr>
              <a:t>Dev Tooling Sandbox Constraints</a:t>
            </a:r>
            <a:endParaRPr lang="en-US" sz="1100" dirty="0"/>
          </a:p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</a:rPr>
              <a:t>macOS sandbox blocks backend preview; limits real-time verification workflow</a:t>
            </a:r>
            <a:endParaRPr lang="en-US" sz="1100" dirty="0"/>
          </a:p>
        </p:txBody>
      </p:sp>
      <p:sp>
        <p:nvSpPr>
          <p:cNvPr id="45" name="Shape 33"/>
          <p:cNvSpPr/>
          <p:nvPr/>
        </p:nvSpPr>
        <p:spPr>
          <a:xfrm>
            <a:off x="6263640" y="3886200"/>
            <a:ext cx="54864" cy="2697480"/>
          </a:xfrm>
          <a:prstGeom prst="rect">
            <a:avLst/>
          </a:prstGeom>
          <a:solidFill>
            <a:srgbClr val="FFC6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59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8C1D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60"/>
          <p:cNvSpPr/>
          <p:nvPr/>
        </p:nvSpPr>
        <p:spPr>
          <a:xfrm>
            <a:off x="365760" y="6492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Alabama  |  Arizona State University  |  Capstone Project</a:t>
            </a:r>
            <a:endParaRPr lang="en-US" sz="1000" dirty="0"/>
          </a:p>
        </p:txBody>
      </p:sp>
      <p:sp>
        <p:nvSpPr>
          <p:cNvPr id="74" name="Text 61"/>
          <p:cNvSpPr/>
          <p:nvPr/>
        </p:nvSpPr>
        <p:spPr>
          <a:xfrm>
            <a:off x="8229600" y="6492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381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 2  |  </a:t>
            </a:r>
            <a:r>
              <a:rPr lang="en-US" sz="1000" b="1" dirty="0">
                <a:solidFill>
                  <a:srgbClr val="FFC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284</Words>
  <Application>Microsoft Macintosh PowerPoint</Application>
  <PresentationFormat>Widescreen</PresentationFormat>
  <Paragraphs>58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Arial Black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Synapse AI - Checkpoint 2 Quad Chart</dc:title>
  <dc:subject>PptxGenJS Presentation</dc:subject>
  <dc:creator>Team Alabama</dc:creator>
  <cp:lastModifiedBy>Pragyan Jyoti Borthakur (Student)</cp:lastModifiedBy>
  <cp:revision>4</cp:revision>
  <dcterms:created xsi:type="dcterms:W3CDTF">2026-03-27T00:33:05Z</dcterms:created>
  <dcterms:modified xsi:type="dcterms:W3CDTF">2026-03-27T00:38:37Z</dcterms:modified>
</cp:coreProperties>
</file>