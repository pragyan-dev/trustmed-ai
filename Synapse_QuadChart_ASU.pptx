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747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464" y="-13716"/>
            <a:ext cx="9231464" cy="726948"/>
          </a:xfrm>
          <a:prstGeom prst="rect">
            <a:avLst/>
          </a:prstGeom>
          <a:solidFill>
            <a:srgbClr val="8C1D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32004"/>
          </a:xfrm>
          <a:prstGeom prst="rect">
            <a:avLst/>
          </a:pr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6304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6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Synapse AI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891055" y="2286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08375" y="228601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FFF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State University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6032" y="914400"/>
            <a:ext cx="4187952" cy="188366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56032" y="914400"/>
            <a:ext cx="45720" cy="18836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01752" y="987552"/>
            <a:ext cx="4041648" cy="274320"/>
          </a:xfrm>
          <a:prstGeom prst="rect">
            <a:avLst/>
          </a:prstGeom>
          <a:solidFill>
            <a:srgbClr val="F1F1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02412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" y="987552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1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ACCOMPLISHMENTS (KPIs)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362456"/>
            <a:ext cx="118872" cy="1188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6072" y="132588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</a:rPr>
              <a:t>Data Integration Complete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MIMIC-IV + Neo4j graph + ChromaDB operational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709928"/>
            <a:ext cx="118872" cy="1188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6072" y="1673352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</a:rPr>
              <a:t>Core Pipeline Deployed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Hybrid retrieval + multimodal vision agent with BiomedCLIP</a:t>
            </a:r>
            <a:endParaRPr lang="en-US" sz="8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2057400"/>
            <a:ext cx="118872" cy="1188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76072" y="202082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</a:rPr>
              <a:t>4-Brain Architecture Integrated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Vision, Knowledge Graph, Vector Search, Patient Context unified</a:t>
            </a:r>
            <a:endParaRPr lang="en-US" sz="8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2404872"/>
            <a:ext cx="118872" cy="11887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76072" y="2368296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</a:rPr>
              <a:t>Anti-Hallucination Framework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Structured confidence (HIGH/LOW), sigmoid reranking, Visual-RAG checks</a:t>
            </a:r>
            <a:endParaRPr lang="en-US" sz="850" dirty="0"/>
          </a:p>
        </p:txBody>
      </p:sp>
      <p:sp>
        <p:nvSpPr>
          <p:cNvPr id="21" name="Shape 13"/>
          <p:cNvSpPr/>
          <p:nvPr/>
        </p:nvSpPr>
        <p:spPr>
          <a:xfrm>
            <a:off x="4700016" y="914400"/>
            <a:ext cx="4187952" cy="188366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Shape 14"/>
          <p:cNvSpPr/>
          <p:nvPr/>
        </p:nvSpPr>
        <p:spPr>
          <a:xfrm>
            <a:off x="4700016" y="914400"/>
            <a:ext cx="45720" cy="18836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4745736" y="987552"/>
            <a:ext cx="4041648" cy="274320"/>
          </a:xfrm>
          <a:prstGeom prst="rect">
            <a:avLst/>
          </a:prstGeom>
          <a:solidFill>
            <a:srgbClr val="F1F1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024128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02352" y="987552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1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TASKS (Rolling Action Items)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4828032" y="13350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00" dirty="0"/>
          </a:p>
        </p:txBody>
      </p:sp>
      <p:sp>
        <p:nvSpPr>
          <p:cNvPr id="27" name="Text 18"/>
          <p:cNvSpPr/>
          <p:nvPr/>
        </p:nvSpPr>
        <p:spPr>
          <a:xfrm>
            <a:off x="6757416" y="13350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700" dirty="0"/>
          </a:p>
        </p:txBody>
      </p:sp>
      <p:sp>
        <p:nvSpPr>
          <p:cNvPr id="28" name="Text 19"/>
          <p:cNvSpPr/>
          <p:nvPr/>
        </p:nvSpPr>
        <p:spPr>
          <a:xfrm>
            <a:off x="7763256" y="13350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700" dirty="0"/>
          </a:p>
        </p:txBody>
      </p:sp>
      <p:sp>
        <p:nvSpPr>
          <p:cNvPr id="29" name="Text 20"/>
          <p:cNvSpPr/>
          <p:nvPr/>
        </p:nvSpPr>
        <p:spPr>
          <a:xfrm>
            <a:off x="8311896" y="13350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700" dirty="0"/>
          </a:p>
        </p:txBody>
      </p:sp>
      <p:sp>
        <p:nvSpPr>
          <p:cNvPr id="30" name="Shape 21"/>
          <p:cNvSpPr/>
          <p:nvPr/>
        </p:nvSpPr>
        <p:spPr>
          <a:xfrm>
            <a:off x="4809744" y="1517904"/>
            <a:ext cx="3968496" cy="0"/>
          </a:xfrm>
          <a:prstGeom prst="line">
            <a:avLst/>
          </a:prstGeom>
          <a:noFill/>
          <a:ln w="889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2"/>
          <p:cNvSpPr/>
          <p:nvPr/>
        </p:nvSpPr>
        <p:spPr>
          <a:xfrm>
            <a:off x="4828032" y="15727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layer + dynamic thresholding</a:t>
            </a:r>
            <a:endParaRPr lang="en-US" sz="800" dirty="0"/>
          </a:p>
        </p:txBody>
      </p:sp>
      <p:sp>
        <p:nvSpPr>
          <p:cNvPr id="32" name="Text 23"/>
          <p:cNvSpPr/>
          <p:nvPr/>
        </p:nvSpPr>
        <p:spPr>
          <a:xfrm>
            <a:off x="6757416" y="15727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1, Member 2</a:t>
            </a:r>
            <a:endParaRPr lang="en-US" sz="750" dirty="0"/>
          </a:p>
        </p:txBody>
      </p:sp>
      <p:sp>
        <p:nvSpPr>
          <p:cNvPr id="33" name="Text 24"/>
          <p:cNvSpPr/>
          <p:nvPr/>
        </p:nvSpPr>
        <p:spPr>
          <a:xfrm>
            <a:off x="7763256" y="15727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8</a:t>
            </a:r>
            <a:endParaRPr lang="en-US" sz="750" dirty="0"/>
          </a:p>
        </p:txBody>
      </p:sp>
      <p:sp>
        <p:nvSpPr>
          <p:cNvPr id="34" name="Shape 25"/>
          <p:cNvSpPr/>
          <p:nvPr/>
        </p:nvSpPr>
        <p:spPr>
          <a:xfrm>
            <a:off x="8330184" y="1645920"/>
            <a:ext cx="438912" cy="164592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6"/>
          <p:cNvSpPr/>
          <p:nvPr/>
        </p:nvSpPr>
        <p:spPr>
          <a:xfrm>
            <a:off x="8330184" y="16459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36" name="Shape 27"/>
          <p:cNvSpPr/>
          <p:nvPr/>
        </p:nvSpPr>
        <p:spPr>
          <a:xfrm>
            <a:off x="4809744" y="1883664"/>
            <a:ext cx="3968496" cy="0"/>
          </a:xfrm>
          <a:prstGeom prst="line">
            <a:avLst/>
          </a:prstGeom>
          <a:noFill/>
          <a:ln w="381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8"/>
          <p:cNvSpPr/>
          <p:nvPr/>
        </p:nvSpPr>
        <p:spPr>
          <a:xfrm>
            <a:off x="4828032" y="19019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critic (independent model)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6757416" y="19019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Pragyan</a:t>
            </a:r>
            <a:endParaRPr lang="en-US" sz="750" dirty="0"/>
          </a:p>
        </p:txBody>
      </p:sp>
      <p:sp>
        <p:nvSpPr>
          <p:cNvPr id="39" name="Text 30"/>
          <p:cNvSpPr/>
          <p:nvPr/>
        </p:nvSpPr>
        <p:spPr>
          <a:xfrm>
            <a:off x="7763256" y="19019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</a:t>
            </a:r>
            <a:endParaRPr lang="en-US" sz="750" dirty="0"/>
          </a:p>
        </p:txBody>
      </p:sp>
      <p:sp>
        <p:nvSpPr>
          <p:cNvPr id="40" name="Shape 31"/>
          <p:cNvSpPr/>
          <p:nvPr/>
        </p:nvSpPr>
        <p:spPr>
          <a:xfrm>
            <a:off x="8330184" y="1975104"/>
            <a:ext cx="438912" cy="164592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2"/>
          <p:cNvSpPr/>
          <p:nvPr/>
        </p:nvSpPr>
        <p:spPr>
          <a:xfrm>
            <a:off x="8330184" y="197510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42" name="Shape 33"/>
          <p:cNvSpPr/>
          <p:nvPr/>
        </p:nvSpPr>
        <p:spPr>
          <a:xfrm>
            <a:off x="4809744" y="2212848"/>
            <a:ext cx="3968496" cy="0"/>
          </a:xfrm>
          <a:prstGeom prst="line">
            <a:avLst/>
          </a:prstGeom>
          <a:noFill/>
          <a:ln w="381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/>
          <p:nvPr/>
        </p:nvSpPr>
        <p:spPr>
          <a:xfrm>
            <a:off x="4828032" y="223113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 generator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6757416" y="223113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750" dirty="0"/>
          </a:p>
        </p:txBody>
      </p:sp>
      <p:sp>
        <p:nvSpPr>
          <p:cNvPr id="45" name="Text 36"/>
          <p:cNvSpPr/>
          <p:nvPr/>
        </p:nvSpPr>
        <p:spPr>
          <a:xfrm>
            <a:off x="7763256" y="22311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</a:t>
            </a:r>
            <a:endParaRPr lang="en-US" sz="750" dirty="0"/>
          </a:p>
        </p:txBody>
      </p:sp>
      <p:sp>
        <p:nvSpPr>
          <p:cNvPr id="46" name="Shape 37"/>
          <p:cNvSpPr/>
          <p:nvPr/>
        </p:nvSpPr>
        <p:spPr>
          <a:xfrm>
            <a:off x="8330184" y="2304288"/>
            <a:ext cx="438912" cy="164592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/>
          <p:nvPr/>
        </p:nvSpPr>
        <p:spPr>
          <a:xfrm>
            <a:off x="8330184" y="23042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50" dirty="0"/>
          </a:p>
        </p:txBody>
      </p:sp>
      <p:sp>
        <p:nvSpPr>
          <p:cNvPr id="48" name="Shape 39"/>
          <p:cNvSpPr/>
          <p:nvPr/>
        </p:nvSpPr>
        <p:spPr>
          <a:xfrm>
            <a:off x="4809744" y="2542032"/>
            <a:ext cx="3968496" cy="0"/>
          </a:xfrm>
          <a:prstGeom prst="line">
            <a:avLst/>
          </a:prstGeom>
          <a:noFill/>
          <a:ln w="381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0"/>
          <p:cNvSpPr/>
          <p:nvPr/>
        </p:nvSpPr>
        <p:spPr>
          <a:xfrm>
            <a:off x="4828032" y="25603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Source-grounded generation</a:t>
            </a:r>
            <a:endParaRPr lang="en-US" sz="800" dirty="0"/>
          </a:p>
        </p:txBody>
      </p:sp>
      <p:sp>
        <p:nvSpPr>
          <p:cNvPr id="50" name="Text 41"/>
          <p:cNvSpPr/>
          <p:nvPr/>
        </p:nvSpPr>
        <p:spPr>
          <a:xfrm>
            <a:off x="6757416" y="2560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750" dirty="0"/>
          </a:p>
        </p:txBody>
      </p:sp>
      <p:sp>
        <p:nvSpPr>
          <p:cNvPr id="51" name="Text 42"/>
          <p:cNvSpPr/>
          <p:nvPr/>
        </p:nvSpPr>
        <p:spPr>
          <a:xfrm>
            <a:off x="7763256" y="25603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</a:t>
            </a:r>
            <a:endParaRPr lang="en-US" sz="750" dirty="0"/>
          </a:p>
        </p:txBody>
      </p:sp>
      <p:sp>
        <p:nvSpPr>
          <p:cNvPr id="52" name="Shape 43"/>
          <p:cNvSpPr/>
          <p:nvPr/>
        </p:nvSpPr>
        <p:spPr>
          <a:xfrm>
            <a:off x="8330184" y="2633472"/>
            <a:ext cx="438912" cy="164592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4"/>
          <p:cNvSpPr/>
          <p:nvPr/>
        </p:nvSpPr>
        <p:spPr>
          <a:xfrm>
            <a:off x="8330184" y="26334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50" dirty="0"/>
          </a:p>
        </p:txBody>
      </p:sp>
      <p:sp>
        <p:nvSpPr>
          <p:cNvPr id="54" name="Shape 45"/>
          <p:cNvSpPr/>
          <p:nvPr/>
        </p:nvSpPr>
        <p:spPr>
          <a:xfrm>
            <a:off x="256032" y="2944368"/>
            <a:ext cx="4187952" cy="19385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6"/>
          <p:cNvSpPr/>
          <p:nvPr/>
        </p:nvSpPr>
        <p:spPr>
          <a:xfrm>
            <a:off x="256032" y="2944368"/>
            <a:ext cx="45720" cy="193852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7"/>
          <p:cNvSpPr/>
          <p:nvPr/>
        </p:nvSpPr>
        <p:spPr>
          <a:xfrm>
            <a:off x="301752" y="3017520"/>
            <a:ext cx="4041648" cy="274320"/>
          </a:xfrm>
          <a:prstGeom prst="rect">
            <a:avLst/>
          </a:prstGeom>
          <a:solidFill>
            <a:srgbClr val="F1F1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054096"/>
            <a:ext cx="201168" cy="201168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658368" y="301752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1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BARRIERS</a:t>
            </a:r>
            <a:endParaRPr lang="en-US" sz="1100" dirty="0"/>
          </a:p>
        </p:txBody>
      </p:sp>
      <p:sp>
        <p:nvSpPr>
          <p:cNvPr id="59" name="Shape 49"/>
          <p:cNvSpPr/>
          <p:nvPr/>
        </p:nvSpPr>
        <p:spPr>
          <a:xfrm>
            <a:off x="384048" y="3401568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0"/>
          <p:cNvSpPr/>
          <p:nvPr/>
        </p:nvSpPr>
        <p:spPr>
          <a:xfrm>
            <a:off x="384048" y="34015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00" dirty="0"/>
          </a:p>
        </p:txBody>
      </p:sp>
      <p:sp>
        <p:nvSpPr>
          <p:cNvPr id="61" name="Text 51"/>
          <p:cNvSpPr/>
          <p:nvPr/>
        </p:nvSpPr>
        <p:spPr>
          <a:xfrm>
            <a:off x="841248" y="3346704"/>
            <a:ext cx="3410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</a:rPr>
              <a:t>Vision API Hallucination Rate</a:t>
            </a:r>
            <a:endParaRPr lang="en-US" sz="850" dirty="0"/>
          </a:p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Free-tier models hallucinate 20-30% of CXR findings; no local classifier to cross-validate yet</a:t>
            </a:r>
            <a:endParaRPr lang="en-US" sz="850" dirty="0"/>
          </a:p>
        </p:txBody>
      </p:sp>
      <p:sp>
        <p:nvSpPr>
          <p:cNvPr id="62" name="Shape 52"/>
          <p:cNvSpPr/>
          <p:nvPr/>
        </p:nvSpPr>
        <p:spPr>
          <a:xfrm>
            <a:off x="384048" y="3785616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3"/>
          <p:cNvSpPr/>
          <p:nvPr/>
        </p:nvSpPr>
        <p:spPr>
          <a:xfrm>
            <a:off x="384048" y="37856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00" dirty="0"/>
          </a:p>
        </p:txBody>
      </p:sp>
      <p:sp>
        <p:nvSpPr>
          <p:cNvPr id="64" name="Text 54"/>
          <p:cNvSpPr/>
          <p:nvPr/>
        </p:nvSpPr>
        <p:spPr>
          <a:xfrm>
            <a:off x="841248" y="3730752"/>
            <a:ext cx="3410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</a:rPr>
              <a:t>Evaluation Subjectivity</a:t>
            </a:r>
            <a:endParaRPr lang="en-US" sz="850" dirty="0"/>
          </a:p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No gold-standard test set defined; clinical accuracy metrics require domain expert review</a:t>
            </a:r>
            <a:endParaRPr lang="en-US" sz="850" dirty="0"/>
          </a:p>
        </p:txBody>
      </p:sp>
      <p:sp>
        <p:nvSpPr>
          <p:cNvPr id="65" name="Shape 55"/>
          <p:cNvSpPr/>
          <p:nvPr/>
        </p:nvSpPr>
        <p:spPr>
          <a:xfrm>
            <a:off x="384048" y="4169664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56"/>
          <p:cNvSpPr/>
          <p:nvPr/>
        </p:nvSpPr>
        <p:spPr>
          <a:xfrm>
            <a:off x="384048" y="41696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00" dirty="0"/>
          </a:p>
        </p:txBody>
      </p:sp>
      <p:sp>
        <p:nvSpPr>
          <p:cNvPr id="67" name="Text 57"/>
          <p:cNvSpPr/>
          <p:nvPr/>
        </p:nvSpPr>
        <p:spPr>
          <a:xfrm>
            <a:off x="841248" y="4114800"/>
            <a:ext cx="3410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</a:rPr>
              <a:t>Free-Tier API Rate Limits</a:t>
            </a:r>
            <a:endParaRPr lang="en-US" sz="850" dirty="0"/>
          </a:p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OpenRouter free models throttle during batch evaluation; may delay quantitative benchmarks</a:t>
            </a:r>
            <a:endParaRPr lang="en-US" sz="850" dirty="0"/>
          </a:p>
        </p:txBody>
      </p:sp>
      <p:sp>
        <p:nvSpPr>
          <p:cNvPr id="68" name="Shape 58"/>
          <p:cNvSpPr/>
          <p:nvPr/>
        </p:nvSpPr>
        <p:spPr>
          <a:xfrm>
            <a:off x="384048" y="4553712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59"/>
          <p:cNvSpPr/>
          <p:nvPr/>
        </p:nvSpPr>
        <p:spPr>
          <a:xfrm>
            <a:off x="384048" y="45537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00" dirty="0"/>
          </a:p>
        </p:txBody>
      </p:sp>
      <p:sp>
        <p:nvSpPr>
          <p:cNvPr id="70" name="Text 60"/>
          <p:cNvSpPr/>
          <p:nvPr/>
        </p:nvSpPr>
        <p:spPr>
          <a:xfrm>
            <a:off x="841248" y="4498848"/>
            <a:ext cx="3410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1" name="Shape 61"/>
          <p:cNvSpPr/>
          <p:nvPr/>
        </p:nvSpPr>
        <p:spPr>
          <a:xfrm>
            <a:off x="4700016" y="2944368"/>
            <a:ext cx="4187952" cy="19385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62"/>
          <p:cNvSpPr/>
          <p:nvPr/>
        </p:nvSpPr>
        <p:spPr>
          <a:xfrm>
            <a:off x="4700016" y="2944368"/>
            <a:ext cx="45720" cy="1938528"/>
          </a:xfrm>
          <a:prstGeom prst="rect">
            <a:avLst/>
          </a:pr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63"/>
          <p:cNvSpPr/>
          <p:nvPr/>
        </p:nvSpPr>
        <p:spPr>
          <a:xfrm>
            <a:off x="4736592" y="3017520"/>
            <a:ext cx="4041648" cy="274320"/>
          </a:xfrm>
          <a:prstGeom prst="rect">
            <a:avLst/>
          </a:prstGeom>
          <a:solidFill>
            <a:srgbClr val="F1F1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4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054096"/>
            <a:ext cx="201168" cy="201168"/>
          </a:xfrm>
          <a:prstGeom prst="rect">
            <a:avLst/>
          </a:prstGeom>
        </p:spPr>
      </p:pic>
      <p:sp>
        <p:nvSpPr>
          <p:cNvPr id="75" name="Text 64"/>
          <p:cNvSpPr/>
          <p:nvPr/>
        </p:nvSpPr>
        <p:spPr>
          <a:xfrm>
            <a:off x="5102352" y="301752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1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</a:t>
            </a:r>
            <a:endParaRPr lang="en-US" sz="1100" dirty="0"/>
          </a:p>
        </p:txBody>
      </p:sp>
      <p:sp>
        <p:nvSpPr>
          <p:cNvPr id="76" name="Shape 65"/>
          <p:cNvSpPr/>
          <p:nvPr/>
        </p:nvSpPr>
        <p:spPr>
          <a:xfrm>
            <a:off x="4978908" y="3538728"/>
            <a:ext cx="0" cy="137160"/>
          </a:xfrm>
          <a:prstGeom prst="line">
            <a:avLst/>
          </a:prstGeom>
          <a:noFill/>
          <a:ln w="1524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66"/>
          <p:cNvSpPr/>
          <p:nvPr/>
        </p:nvSpPr>
        <p:spPr>
          <a:xfrm>
            <a:off x="4928616" y="3429000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67"/>
          <p:cNvSpPr/>
          <p:nvPr/>
        </p:nvSpPr>
        <p:spPr>
          <a:xfrm>
            <a:off x="5102352" y="33832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19</a:t>
            </a:r>
            <a:endParaRPr lang="en-US" sz="750" dirty="0"/>
          </a:p>
        </p:txBody>
      </p:sp>
      <p:sp>
        <p:nvSpPr>
          <p:cNvPr id="79" name="Text 68"/>
          <p:cNvSpPr/>
          <p:nvPr/>
        </p:nvSpPr>
        <p:spPr>
          <a:xfrm>
            <a:off x="5632704" y="338328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trike="sngStrike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delivered (hybrid retrieval + vision agent)</a:t>
            </a:r>
            <a:endParaRPr lang="en-US" sz="800" dirty="0"/>
          </a:p>
        </p:txBody>
      </p:sp>
      <p:pic>
        <p:nvPicPr>
          <p:cNvPr id="8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28" y="3410712"/>
            <a:ext cx="146304" cy="146304"/>
          </a:xfrm>
          <a:prstGeom prst="rect">
            <a:avLst/>
          </a:prstGeom>
        </p:spPr>
      </p:pic>
      <p:sp>
        <p:nvSpPr>
          <p:cNvPr id="81" name="Shape 69"/>
          <p:cNvSpPr/>
          <p:nvPr/>
        </p:nvSpPr>
        <p:spPr>
          <a:xfrm>
            <a:off x="4978908" y="3831336"/>
            <a:ext cx="0" cy="137160"/>
          </a:xfrm>
          <a:prstGeom prst="line">
            <a:avLst/>
          </a:prstGeom>
          <a:noFill/>
          <a:ln w="1524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0"/>
          <p:cNvSpPr/>
          <p:nvPr/>
        </p:nvSpPr>
        <p:spPr>
          <a:xfrm>
            <a:off x="4928616" y="3721608"/>
            <a:ext cx="109728" cy="109728"/>
          </a:xfrm>
          <a:prstGeom prst="ellipse">
            <a:avLst/>
          </a:pr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1"/>
          <p:cNvSpPr/>
          <p:nvPr/>
        </p:nvSpPr>
        <p:spPr>
          <a:xfrm>
            <a:off x="5102352" y="36758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8</a:t>
            </a:r>
            <a:endParaRPr lang="en-US" sz="750" dirty="0"/>
          </a:p>
        </p:txBody>
      </p:sp>
      <p:sp>
        <p:nvSpPr>
          <p:cNvPr id="84" name="Text 72"/>
          <p:cNvSpPr/>
          <p:nvPr/>
        </p:nvSpPr>
        <p:spPr>
          <a:xfrm>
            <a:off x="5632704" y="367588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Integration complete (cross-encoder + thresholding)</a:t>
            </a:r>
            <a:endParaRPr lang="en-US" sz="800" dirty="0"/>
          </a:p>
        </p:txBody>
      </p:sp>
      <p:sp>
        <p:nvSpPr>
          <p:cNvPr id="85" name="Shape 73"/>
          <p:cNvSpPr/>
          <p:nvPr/>
        </p:nvSpPr>
        <p:spPr>
          <a:xfrm>
            <a:off x="4978908" y="4123944"/>
            <a:ext cx="0" cy="137160"/>
          </a:xfrm>
          <a:prstGeom prst="line">
            <a:avLst/>
          </a:prstGeom>
          <a:noFill/>
          <a:ln w="1524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74"/>
          <p:cNvSpPr/>
          <p:nvPr/>
        </p:nvSpPr>
        <p:spPr>
          <a:xfrm>
            <a:off x="4928616" y="4014216"/>
            <a:ext cx="109728" cy="109728"/>
          </a:xfrm>
          <a:prstGeom prst="ellipse">
            <a:avLst/>
          </a:pr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75"/>
          <p:cNvSpPr/>
          <p:nvPr/>
        </p:nvSpPr>
        <p:spPr>
          <a:xfrm>
            <a:off x="5102352" y="396849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</a:t>
            </a:r>
            <a:endParaRPr lang="en-US" sz="750" dirty="0"/>
          </a:p>
        </p:txBody>
      </p:sp>
      <p:sp>
        <p:nvSpPr>
          <p:cNvPr id="88" name="Text 76"/>
          <p:cNvSpPr/>
          <p:nvPr/>
        </p:nvSpPr>
        <p:spPr>
          <a:xfrm>
            <a:off x="5632704" y="396849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 initial implementation + independent critic</a:t>
            </a:r>
            <a:endParaRPr lang="en-US" sz="800" dirty="0"/>
          </a:p>
        </p:txBody>
      </p:sp>
      <p:sp>
        <p:nvSpPr>
          <p:cNvPr id="89" name="Shape 77"/>
          <p:cNvSpPr/>
          <p:nvPr/>
        </p:nvSpPr>
        <p:spPr>
          <a:xfrm>
            <a:off x="4978908" y="4416552"/>
            <a:ext cx="0" cy="137160"/>
          </a:xfrm>
          <a:prstGeom prst="line">
            <a:avLst/>
          </a:prstGeom>
          <a:noFill/>
          <a:ln w="1524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78"/>
          <p:cNvSpPr/>
          <p:nvPr/>
        </p:nvSpPr>
        <p:spPr>
          <a:xfrm>
            <a:off x="4928616" y="4306824"/>
            <a:ext cx="109728" cy="109728"/>
          </a:xfrm>
          <a:prstGeom prst="ellipse">
            <a:avLst/>
          </a:pr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79"/>
          <p:cNvSpPr/>
          <p:nvPr/>
        </p:nvSpPr>
        <p:spPr>
          <a:xfrm>
            <a:off x="5102352" y="42611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</a:t>
            </a:r>
            <a:endParaRPr lang="en-US" sz="750" dirty="0"/>
          </a:p>
        </p:txBody>
      </p:sp>
      <p:sp>
        <p:nvSpPr>
          <p:cNvPr id="92" name="Text 80"/>
          <p:cNvSpPr/>
          <p:nvPr/>
        </p:nvSpPr>
        <p:spPr>
          <a:xfrm>
            <a:off x="5632704" y="4261104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2: Safety Layer + SOAP notes complete</a:t>
            </a:r>
            <a:endParaRPr lang="en-US" sz="800" dirty="0"/>
          </a:p>
        </p:txBody>
      </p:sp>
      <p:sp>
        <p:nvSpPr>
          <p:cNvPr id="93" name="Shape 81"/>
          <p:cNvSpPr/>
          <p:nvPr/>
        </p:nvSpPr>
        <p:spPr>
          <a:xfrm>
            <a:off x="4928616" y="4599432"/>
            <a:ext cx="109728" cy="109728"/>
          </a:xfrm>
          <a:prstGeom prst="ellipse">
            <a:avLst/>
          </a:pr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2"/>
          <p:cNvSpPr/>
          <p:nvPr/>
        </p:nvSpPr>
        <p:spPr>
          <a:xfrm>
            <a:off x="5102352" y="45537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</a:t>
            </a:r>
            <a:endParaRPr lang="en-US" sz="750" dirty="0"/>
          </a:p>
        </p:txBody>
      </p:sp>
      <p:sp>
        <p:nvSpPr>
          <p:cNvPr id="95" name="Text 83"/>
          <p:cNvSpPr/>
          <p:nvPr/>
        </p:nvSpPr>
        <p:spPr>
          <a:xfrm>
            <a:off x="5632704" y="455371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Delivery: Evaluation benchmarks + user study + report</a:t>
            </a:r>
            <a:endParaRPr lang="en-US" sz="800" dirty="0"/>
          </a:p>
        </p:txBody>
      </p:sp>
      <p:sp>
        <p:nvSpPr>
          <p:cNvPr id="96" name="Shape 84"/>
          <p:cNvSpPr/>
          <p:nvPr/>
        </p:nvSpPr>
        <p:spPr>
          <a:xfrm>
            <a:off x="-41744" y="4919472"/>
            <a:ext cx="9185744" cy="283464"/>
          </a:xfrm>
          <a:prstGeom prst="rect">
            <a:avLst/>
          </a:pr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85"/>
          <p:cNvSpPr/>
          <p:nvPr/>
        </p:nvSpPr>
        <p:spPr>
          <a:xfrm>
            <a:off x="0" y="4896612"/>
            <a:ext cx="9144000" cy="22860"/>
          </a:xfrm>
          <a:prstGeom prst="rect">
            <a:avLst/>
          </a:pr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86"/>
          <p:cNvSpPr/>
          <p:nvPr/>
        </p:nvSpPr>
        <p:spPr>
          <a:xfrm>
            <a:off x="320040" y="4919472"/>
            <a:ext cx="5029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Alabama |  Arizona State University  |  FSE 570</a:t>
            </a:r>
            <a:endParaRPr lang="en-US" sz="750" dirty="0"/>
          </a:p>
        </p:txBody>
      </p:sp>
      <p:sp>
        <p:nvSpPr>
          <p:cNvPr id="99" name="Text 87"/>
          <p:cNvSpPr/>
          <p:nvPr/>
        </p:nvSpPr>
        <p:spPr>
          <a:xfrm>
            <a:off x="5029200" y="4919472"/>
            <a:ext cx="37947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 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233</Words>
  <Application>Microsoft Macintosh PowerPoint</Application>
  <PresentationFormat>On-screen Show (16:9)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TrustMed AI - Checkpoint 1 Quad Chart</dc:title>
  <dc:subject>PptxGenJS Presentation</dc:subject>
  <dc:creator>Pragyan Borthakur</dc:creator>
  <cp:lastModifiedBy>Pragyan Jyoti Borthakur (Student)</cp:lastModifiedBy>
  <cp:revision>6</cp:revision>
  <dcterms:created xsi:type="dcterms:W3CDTF">2026-03-01T00:02:31Z</dcterms:created>
  <dcterms:modified xsi:type="dcterms:W3CDTF">2026-03-02T21:07:49Z</dcterms:modified>
</cp:coreProperties>
</file>