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2004"/>
          </a:xfrm>
          <a:prstGeom prst="rect">
            <a:avLst/>
          </a:prstGeom>
          <a:solidFill>
            <a:srgbClr val="FFC62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6304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6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TrustMed AI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926080" y="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Quad Chart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03520" y="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FF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Neuro-Symbolic Clinical Decision Support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6032" y="914400"/>
            <a:ext cx="4187952" cy="18836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914400"/>
            <a:ext cx="45720" cy="18836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Shape 7"/>
          <p:cNvSpPr/>
          <p:nvPr/>
        </p:nvSpPr>
        <p:spPr>
          <a:xfrm>
            <a:off x="301752" y="987552"/>
            <a:ext cx="4041648" cy="274320"/>
          </a:xfrm>
          <a:prstGeom prst="rect">
            <a:avLst/>
          </a:prstGeom>
          <a:solidFill>
            <a:srgbClr val="F1F1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02412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" y="987552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ACCOMPLISHMENTS (KPIs)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335024"/>
            <a:ext cx="109728" cy="1097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928" y="129844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Data Integration Complete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MIMIC-IV + Neo4j graph + ChromaDB operational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609344"/>
            <a:ext cx="109728" cy="1097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6928" y="157276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Core Pipeline Deployed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Hybrid retrieval + multimodal vision agent with BiomedCLIP</a:t>
            </a:r>
            <a:endParaRPr lang="en-US" sz="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1883664"/>
            <a:ext cx="109728" cy="1097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66928" y="184708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4-Brain Architecture Integrated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Vision, Knowledge Graph, Vector Search, Patient Context unified</a:t>
            </a:r>
            <a:endParaRPr lang="en-US" sz="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2157984"/>
            <a:ext cx="109728" cy="10972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66928" y="21214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Benchmarked Vision &amp; LLM Models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A/B testing on vision and LLM models for segmentation, captioning, abnormality ID</a:t>
            </a:r>
            <a:endParaRPr lang="en-US" sz="8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" y="2432304"/>
            <a:ext cx="109728" cy="10972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66928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Fallback Mechanism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Do No Harm fallbacks with LLM safety override</a:t>
            </a:r>
            <a:endParaRPr lang="en-US" sz="800" dirty="0"/>
          </a:p>
        </p:txBody>
      </p:sp>
      <p:sp>
        <p:nvSpPr>
          <p:cNvPr id="23" name="Shape 14"/>
          <p:cNvSpPr/>
          <p:nvPr/>
        </p:nvSpPr>
        <p:spPr>
          <a:xfrm>
            <a:off x="4700016" y="914400"/>
            <a:ext cx="4187952" cy="18836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4" name="Shape 15"/>
          <p:cNvSpPr/>
          <p:nvPr/>
        </p:nvSpPr>
        <p:spPr>
          <a:xfrm>
            <a:off x="4700016" y="914400"/>
            <a:ext cx="45720" cy="18836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16"/>
          <p:cNvSpPr/>
          <p:nvPr/>
        </p:nvSpPr>
        <p:spPr>
          <a:xfrm>
            <a:off x="4745736" y="987552"/>
            <a:ext cx="4041648" cy="274320"/>
          </a:xfrm>
          <a:prstGeom prst="rect">
            <a:avLst/>
          </a:prstGeom>
          <a:solidFill>
            <a:srgbClr val="F1F1F1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1024128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02352" y="987552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ACTION ITEM LIST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4809744" y="13167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50" dirty="0"/>
          </a:p>
        </p:txBody>
      </p:sp>
      <p:sp>
        <p:nvSpPr>
          <p:cNvPr id="29" name="Text 19"/>
          <p:cNvSpPr/>
          <p:nvPr/>
        </p:nvSpPr>
        <p:spPr>
          <a:xfrm>
            <a:off x="4974336" y="13167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</a:t>
            </a:r>
            <a:endParaRPr lang="en-US" sz="650" dirty="0"/>
          </a:p>
        </p:txBody>
      </p:sp>
      <p:sp>
        <p:nvSpPr>
          <p:cNvPr id="30" name="Text 20"/>
          <p:cNvSpPr/>
          <p:nvPr/>
        </p:nvSpPr>
        <p:spPr>
          <a:xfrm>
            <a:off x="7763256" y="13167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31" name="Shape 21"/>
          <p:cNvSpPr/>
          <p:nvPr/>
        </p:nvSpPr>
        <p:spPr>
          <a:xfrm>
            <a:off x="4791456" y="1490472"/>
            <a:ext cx="4005072" cy="0"/>
          </a:xfrm>
          <a:prstGeom prst="line">
            <a:avLst/>
          </a:prstGeom>
          <a:noFill/>
          <a:ln w="8890">
            <a:solidFill>
              <a:srgbClr val="F1F1F1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4809744" y="1563624"/>
            <a:ext cx="146304" cy="146304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33" name="Text 23"/>
          <p:cNvSpPr/>
          <p:nvPr/>
        </p:nvSpPr>
        <p:spPr>
          <a:xfrm>
            <a:off x="4809744" y="15636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34" name="Text 24"/>
          <p:cNvSpPr/>
          <p:nvPr/>
        </p:nvSpPr>
        <p:spPr>
          <a:xfrm>
            <a:off x="4974336" y="1536192"/>
            <a:ext cx="2724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MIMIC schema and Neo4j nodes</a:t>
            </a:r>
            <a:endParaRPr lang="en-US" sz="700" dirty="0"/>
          </a:p>
        </p:txBody>
      </p:sp>
      <p:sp>
        <p:nvSpPr>
          <p:cNvPr id="35" name="Shape 25"/>
          <p:cNvSpPr/>
          <p:nvPr/>
        </p:nvSpPr>
        <p:spPr>
          <a:xfrm>
            <a:off x="7763256" y="1563624"/>
            <a:ext cx="9601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/>
        </p:spPr>
      </p:sp>
      <p:sp>
        <p:nvSpPr>
          <p:cNvPr id="36" name="Text 26"/>
          <p:cNvSpPr/>
          <p:nvPr/>
        </p:nvSpPr>
        <p:spPr>
          <a:xfrm>
            <a:off x="7763256" y="1563624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Lead</a:t>
            </a:r>
            <a:endParaRPr lang="en-US" sz="600" dirty="0"/>
          </a:p>
        </p:txBody>
      </p:sp>
      <p:sp>
        <p:nvSpPr>
          <p:cNvPr id="37" name="Shape 27"/>
          <p:cNvSpPr/>
          <p:nvPr/>
        </p:nvSpPr>
        <p:spPr>
          <a:xfrm>
            <a:off x="4791456" y="1755648"/>
            <a:ext cx="4005072" cy="0"/>
          </a:xfrm>
          <a:prstGeom prst="line">
            <a:avLst/>
          </a:prstGeom>
          <a:noFill/>
          <a:ln w="3810">
            <a:solidFill>
              <a:srgbClr val="F1F1F1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4809744" y="1792224"/>
            <a:ext cx="146304" cy="146304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39" name="Text 29"/>
          <p:cNvSpPr/>
          <p:nvPr/>
        </p:nvSpPr>
        <p:spPr>
          <a:xfrm>
            <a:off x="4809744" y="17922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40" name="Text 30"/>
          <p:cNvSpPr/>
          <p:nvPr/>
        </p:nvSpPr>
        <p:spPr>
          <a:xfrm>
            <a:off x="4974336" y="1764792"/>
            <a:ext cx="2724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image captioned reasoning with clinical text context</a:t>
            </a:r>
            <a:endParaRPr lang="en-US" sz="700" dirty="0"/>
          </a:p>
        </p:txBody>
      </p:sp>
      <p:sp>
        <p:nvSpPr>
          <p:cNvPr id="41" name="Shape 31"/>
          <p:cNvSpPr/>
          <p:nvPr/>
        </p:nvSpPr>
        <p:spPr>
          <a:xfrm>
            <a:off x="7763256" y="1792224"/>
            <a:ext cx="9601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/>
        </p:spPr>
      </p:sp>
      <p:sp>
        <p:nvSpPr>
          <p:cNvPr id="42" name="Text 32"/>
          <p:cNvSpPr/>
          <p:nvPr/>
        </p:nvSpPr>
        <p:spPr>
          <a:xfrm>
            <a:off x="7763256" y="1792224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Agent Dev</a:t>
            </a:r>
            <a:endParaRPr lang="en-US" sz="600" dirty="0"/>
          </a:p>
        </p:txBody>
      </p:sp>
      <p:sp>
        <p:nvSpPr>
          <p:cNvPr id="43" name="Shape 33"/>
          <p:cNvSpPr/>
          <p:nvPr/>
        </p:nvSpPr>
        <p:spPr>
          <a:xfrm>
            <a:off x="4791456" y="1984248"/>
            <a:ext cx="4005072" cy="0"/>
          </a:xfrm>
          <a:prstGeom prst="line">
            <a:avLst/>
          </a:prstGeom>
          <a:noFill/>
          <a:ln w="3810">
            <a:solidFill>
              <a:srgbClr val="F1F1F1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4809744" y="2020824"/>
            <a:ext cx="146304" cy="146304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45" name="Text 35"/>
          <p:cNvSpPr/>
          <p:nvPr/>
        </p:nvSpPr>
        <p:spPr>
          <a:xfrm>
            <a:off x="4809744" y="20208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46" name="Text 36"/>
          <p:cNvSpPr/>
          <p:nvPr/>
        </p:nvSpPr>
        <p:spPr>
          <a:xfrm>
            <a:off x="4974336" y="1993392"/>
            <a:ext cx="2724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context + history → generate SOAP notes</a:t>
            </a:r>
            <a:endParaRPr lang="en-US" sz="700" dirty="0"/>
          </a:p>
        </p:txBody>
      </p:sp>
      <p:sp>
        <p:nvSpPr>
          <p:cNvPr id="47" name="Shape 37"/>
          <p:cNvSpPr/>
          <p:nvPr/>
        </p:nvSpPr>
        <p:spPr>
          <a:xfrm>
            <a:off x="7763256" y="2020824"/>
            <a:ext cx="9601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/>
        </p:spPr>
      </p:sp>
      <p:sp>
        <p:nvSpPr>
          <p:cNvPr id="48" name="Text 38"/>
          <p:cNvSpPr/>
          <p:nvPr/>
        </p:nvSpPr>
        <p:spPr>
          <a:xfrm>
            <a:off x="7763256" y="2020824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NaN</a:t>
            </a:r>
            <a:endParaRPr lang="en-US" sz="600" dirty="0"/>
          </a:p>
        </p:txBody>
      </p:sp>
      <p:sp>
        <p:nvSpPr>
          <p:cNvPr id="49" name="Shape 39"/>
          <p:cNvSpPr/>
          <p:nvPr/>
        </p:nvSpPr>
        <p:spPr>
          <a:xfrm>
            <a:off x="4791456" y="2212848"/>
            <a:ext cx="4005072" cy="0"/>
          </a:xfrm>
          <a:prstGeom prst="line">
            <a:avLst/>
          </a:prstGeom>
          <a:noFill/>
          <a:ln w="3810">
            <a:solidFill>
              <a:srgbClr val="F1F1F1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4809744" y="2249424"/>
            <a:ext cx="146304" cy="146304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51" name="Text 41"/>
          <p:cNvSpPr/>
          <p:nvPr/>
        </p:nvSpPr>
        <p:spPr>
          <a:xfrm>
            <a:off x="4809744" y="22494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52" name="Text 42"/>
          <p:cNvSpPr/>
          <p:nvPr/>
        </p:nvSpPr>
        <p:spPr>
          <a:xfrm>
            <a:off x="4974336" y="2221992"/>
            <a:ext cx="2724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within system architecture</a:t>
            </a:r>
            <a:endParaRPr lang="en-US" sz="700" dirty="0"/>
          </a:p>
        </p:txBody>
      </p:sp>
      <p:sp>
        <p:nvSpPr>
          <p:cNvPr id="53" name="Shape 43"/>
          <p:cNvSpPr/>
          <p:nvPr/>
        </p:nvSpPr>
        <p:spPr>
          <a:xfrm>
            <a:off x="4791456" y="2441448"/>
            <a:ext cx="4005072" cy="0"/>
          </a:xfrm>
          <a:prstGeom prst="line">
            <a:avLst/>
          </a:prstGeom>
          <a:noFill/>
          <a:ln w="3810">
            <a:solidFill>
              <a:srgbClr val="F1F1F1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4809744" y="2478024"/>
            <a:ext cx="146304" cy="146304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55" name="Text 45"/>
          <p:cNvSpPr/>
          <p:nvPr/>
        </p:nvSpPr>
        <p:spPr>
          <a:xfrm>
            <a:off x="4809744" y="24780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56" name="Text 46"/>
          <p:cNvSpPr/>
          <p:nvPr/>
        </p:nvSpPr>
        <p:spPr>
          <a:xfrm>
            <a:off x="4974336" y="2450592"/>
            <a:ext cx="2724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deterministic safety triggers &amp; override rules</a:t>
            </a:r>
            <a:endParaRPr lang="en-US" sz="700" dirty="0"/>
          </a:p>
        </p:txBody>
      </p:sp>
      <p:sp>
        <p:nvSpPr>
          <p:cNvPr id="57" name="Shape 47"/>
          <p:cNvSpPr/>
          <p:nvPr/>
        </p:nvSpPr>
        <p:spPr>
          <a:xfrm>
            <a:off x="256032" y="2944368"/>
            <a:ext cx="4187952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8" name="Shape 48"/>
          <p:cNvSpPr/>
          <p:nvPr/>
        </p:nvSpPr>
        <p:spPr>
          <a:xfrm>
            <a:off x="256032" y="2944368"/>
            <a:ext cx="45720" cy="19385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9" name="Shape 49"/>
          <p:cNvSpPr/>
          <p:nvPr/>
        </p:nvSpPr>
        <p:spPr>
          <a:xfrm>
            <a:off x="301752" y="3017520"/>
            <a:ext cx="4041648" cy="274320"/>
          </a:xfrm>
          <a:prstGeom prst="rect">
            <a:avLst/>
          </a:prstGeom>
          <a:solidFill>
            <a:srgbClr val="F1F1F1"/>
          </a:solidFill>
          <a:ln/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" y="3054096"/>
            <a:ext cx="201168" cy="201168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658368" y="301752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BARRIERS</a:t>
            </a:r>
            <a:endParaRPr lang="en-US" sz="1100" dirty="0"/>
          </a:p>
        </p:txBody>
      </p:sp>
      <p:sp>
        <p:nvSpPr>
          <p:cNvPr id="62" name="Shape 51"/>
          <p:cNvSpPr/>
          <p:nvPr/>
        </p:nvSpPr>
        <p:spPr>
          <a:xfrm>
            <a:off x="384048" y="3374136"/>
            <a:ext cx="384048" cy="118872"/>
          </a:xfrm>
          <a:prstGeom prst="roundRect">
            <a:avLst>
              <a:gd name="adj" fmla="val 30769"/>
            </a:avLst>
          </a:prstGeom>
          <a:solidFill>
            <a:srgbClr val="FEF2F2"/>
          </a:solidFill>
          <a:ln/>
        </p:spPr>
      </p:sp>
      <p:sp>
        <p:nvSpPr>
          <p:cNvPr id="63" name="Text 52"/>
          <p:cNvSpPr/>
          <p:nvPr/>
        </p:nvSpPr>
        <p:spPr>
          <a:xfrm>
            <a:off x="384048" y="337413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00" dirty="0"/>
          </a:p>
        </p:txBody>
      </p:sp>
      <p:sp>
        <p:nvSpPr>
          <p:cNvPr id="64" name="Text 53"/>
          <p:cNvSpPr/>
          <p:nvPr/>
        </p:nvSpPr>
        <p:spPr>
          <a:xfrm>
            <a:off x="841248" y="3328416"/>
            <a:ext cx="3410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</a:rPr>
              <a:t>Schema Misalignment</a:t>
            </a:r>
            <a:endParaRPr lang="en-US" sz="7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MIMIC tables vs Neo4j graph misalignment → incorrect patient context retrieval</a:t>
            </a:r>
            <a:endParaRPr lang="en-US" sz="700" dirty="0"/>
          </a:p>
        </p:txBody>
      </p:sp>
      <p:sp>
        <p:nvSpPr>
          <p:cNvPr id="65" name="Shape 54"/>
          <p:cNvSpPr/>
          <p:nvPr/>
        </p:nvSpPr>
        <p:spPr>
          <a:xfrm>
            <a:off x="384048" y="3648456"/>
            <a:ext cx="384048" cy="118872"/>
          </a:xfrm>
          <a:prstGeom prst="roundRect">
            <a:avLst>
              <a:gd name="adj" fmla="val 30769"/>
            </a:avLst>
          </a:prstGeom>
          <a:solidFill>
            <a:srgbClr val="FEF2F2"/>
          </a:solidFill>
          <a:ln/>
        </p:spPr>
      </p:sp>
      <p:sp>
        <p:nvSpPr>
          <p:cNvPr id="66" name="Text 55"/>
          <p:cNvSpPr/>
          <p:nvPr/>
        </p:nvSpPr>
        <p:spPr>
          <a:xfrm>
            <a:off x="384048" y="364845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00" dirty="0"/>
          </a:p>
        </p:txBody>
      </p:sp>
      <p:sp>
        <p:nvSpPr>
          <p:cNvPr id="67" name="Text 56"/>
          <p:cNvSpPr/>
          <p:nvPr/>
        </p:nvSpPr>
        <p:spPr>
          <a:xfrm>
            <a:off x="841248" y="3602736"/>
            <a:ext cx="3410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</a:rPr>
              <a:t>Multimodal Reasoning Conflicts</a:t>
            </a:r>
            <a:endParaRPr lang="en-US" sz="7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Image captions vs clinical text produce inconsistent diagnoses</a:t>
            </a:r>
            <a:endParaRPr lang="en-US" sz="700" dirty="0"/>
          </a:p>
        </p:txBody>
      </p:sp>
      <p:sp>
        <p:nvSpPr>
          <p:cNvPr id="68" name="Shape 57"/>
          <p:cNvSpPr/>
          <p:nvPr/>
        </p:nvSpPr>
        <p:spPr>
          <a:xfrm>
            <a:off x="384048" y="3922776"/>
            <a:ext cx="384048" cy="118872"/>
          </a:xfrm>
          <a:prstGeom prst="roundRect">
            <a:avLst>
              <a:gd name="adj" fmla="val 30769"/>
            </a:avLst>
          </a:prstGeom>
          <a:solidFill>
            <a:srgbClr val="FEF2F2"/>
          </a:solidFill>
          <a:ln/>
        </p:spPr>
      </p:sp>
      <p:sp>
        <p:nvSpPr>
          <p:cNvPr id="69" name="Text 58"/>
          <p:cNvSpPr/>
          <p:nvPr/>
        </p:nvSpPr>
        <p:spPr>
          <a:xfrm>
            <a:off x="384048" y="39227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00" dirty="0"/>
          </a:p>
        </p:txBody>
      </p:sp>
      <p:sp>
        <p:nvSpPr>
          <p:cNvPr id="70" name="Text 59"/>
          <p:cNvSpPr/>
          <p:nvPr/>
        </p:nvSpPr>
        <p:spPr>
          <a:xfrm>
            <a:off x="841248" y="3877056"/>
            <a:ext cx="3410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</a:rPr>
              <a:t>SOAP Generation Hallucinations</a:t>
            </a:r>
            <a:endParaRPr lang="en-US" sz="7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Incomplete patient context causes fabricated content in SOAP notes</a:t>
            </a:r>
            <a:endParaRPr lang="en-US" sz="700" dirty="0"/>
          </a:p>
        </p:txBody>
      </p:sp>
      <p:sp>
        <p:nvSpPr>
          <p:cNvPr id="71" name="Shape 60"/>
          <p:cNvSpPr/>
          <p:nvPr/>
        </p:nvSpPr>
        <p:spPr>
          <a:xfrm>
            <a:off x="384048" y="4197096"/>
            <a:ext cx="384048" cy="118872"/>
          </a:xfrm>
          <a:prstGeom prst="roundRect">
            <a:avLst>
              <a:gd name="adj" fmla="val 30769"/>
            </a:avLst>
          </a:prstGeom>
          <a:solidFill>
            <a:srgbClr val="FFFBEB"/>
          </a:solidFill>
          <a:ln/>
        </p:spPr>
      </p:sp>
      <p:sp>
        <p:nvSpPr>
          <p:cNvPr id="72" name="Text 61"/>
          <p:cNvSpPr/>
          <p:nvPr/>
        </p:nvSpPr>
        <p:spPr>
          <a:xfrm>
            <a:off x="384048" y="419709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500" dirty="0"/>
          </a:p>
        </p:txBody>
      </p:sp>
      <p:sp>
        <p:nvSpPr>
          <p:cNvPr id="73" name="Text 62"/>
          <p:cNvSpPr/>
          <p:nvPr/>
        </p:nvSpPr>
        <p:spPr>
          <a:xfrm>
            <a:off x="841248" y="4151376"/>
            <a:ext cx="3410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</a:rPr>
              <a:t>Pipeline Latency</a:t>
            </a:r>
            <a:endParaRPr lang="en-US" sz="7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Combined vision + graph + vector + LLM processing increases response time</a:t>
            </a:r>
            <a:endParaRPr lang="en-US" sz="700" dirty="0"/>
          </a:p>
        </p:txBody>
      </p:sp>
      <p:sp>
        <p:nvSpPr>
          <p:cNvPr id="74" name="Shape 63"/>
          <p:cNvSpPr/>
          <p:nvPr/>
        </p:nvSpPr>
        <p:spPr>
          <a:xfrm>
            <a:off x="384048" y="4471416"/>
            <a:ext cx="384048" cy="118872"/>
          </a:xfrm>
          <a:prstGeom prst="roundRect">
            <a:avLst>
              <a:gd name="adj" fmla="val 30769"/>
            </a:avLst>
          </a:prstGeom>
          <a:solidFill>
            <a:srgbClr val="FFFBEB"/>
          </a:solidFill>
          <a:ln/>
        </p:spPr>
      </p:sp>
      <p:sp>
        <p:nvSpPr>
          <p:cNvPr id="75" name="Text 64"/>
          <p:cNvSpPr/>
          <p:nvPr/>
        </p:nvSpPr>
        <p:spPr>
          <a:xfrm>
            <a:off x="384048" y="447141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500" dirty="0"/>
          </a:p>
        </p:txBody>
      </p:sp>
      <p:sp>
        <p:nvSpPr>
          <p:cNvPr id="76" name="Text 65"/>
          <p:cNvSpPr/>
          <p:nvPr/>
        </p:nvSpPr>
        <p:spPr>
          <a:xfrm>
            <a:off x="841248" y="4425696"/>
            <a:ext cx="3410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</a:rPr>
              <a:t>Safety Trigger Calibration</a:t>
            </a:r>
            <a:endParaRPr lang="en-US" sz="7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Over-sensitive triggers block valid answers; under-sensitive ones miss unsafe responses</a:t>
            </a:r>
            <a:endParaRPr lang="en-US" sz="700" dirty="0"/>
          </a:p>
        </p:txBody>
      </p:sp>
      <p:sp>
        <p:nvSpPr>
          <p:cNvPr id="77" name="Shape 66"/>
          <p:cNvSpPr/>
          <p:nvPr/>
        </p:nvSpPr>
        <p:spPr>
          <a:xfrm>
            <a:off x="4700016" y="2944368"/>
            <a:ext cx="4187952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78" name="Shape 67"/>
          <p:cNvSpPr/>
          <p:nvPr/>
        </p:nvSpPr>
        <p:spPr>
          <a:xfrm>
            <a:off x="4700016" y="2944368"/>
            <a:ext cx="45720" cy="1938528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79" name="Shape 68"/>
          <p:cNvSpPr/>
          <p:nvPr/>
        </p:nvSpPr>
        <p:spPr>
          <a:xfrm>
            <a:off x="4745736" y="3017520"/>
            <a:ext cx="4041648" cy="274320"/>
          </a:xfrm>
          <a:prstGeom prst="rect">
            <a:avLst/>
          </a:prstGeom>
          <a:solidFill>
            <a:srgbClr val="F1F1F1"/>
          </a:solidFill>
          <a:ln/>
        </p:spPr>
      </p:sp>
      <p:pic>
        <p:nvPicPr>
          <p:cNvPr id="8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054096"/>
            <a:ext cx="201168" cy="201168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5102352" y="301752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TO CHECKPOINT 2 (Apr 2)</a:t>
            </a:r>
            <a:endParaRPr lang="en-US" sz="1100" dirty="0"/>
          </a:p>
        </p:txBody>
      </p:sp>
      <p:sp>
        <p:nvSpPr>
          <p:cNvPr id="82" name="Shape 70"/>
          <p:cNvSpPr/>
          <p:nvPr/>
        </p:nvSpPr>
        <p:spPr>
          <a:xfrm>
            <a:off x="4864608" y="3383280"/>
            <a:ext cx="0" cy="1170432"/>
          </a:xfrm>
          <a:prstGeom prst="line">
            <a:avLst/>
          </a:prstGeom>
          <a:noFill/>
          <a:ln w="6350">
            <a:solidFill>
              <a:srgbClr val="F1F1F1"/>
            </a:solidFill>
            <a:prstDash val="dash"/>
          </a:ln>
        </p:spPr>
      </p:sp>
      <p:sp>
        <p:nvSpPr>
          <p:cNvPr id="83" name="Text 71"/>
          <p:cNvSpPr/>
          <p:nvPr/>
        </p:nvSpPr>
        <p:spPr>
          <a:xfrm>
            <a:off x="4636008" y="45720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19</a:t>
            </a:r>
            <a:endParaRPr lang="en-US" sz="550" dirty="0"/>
          </a:p>
        </p:txBody>
      </p:sp>
      <p:sp>
        <p:nvSpPr>
          <p:cNvPr id="84" name="Shape 72"/>
          <p:cNvSpPr/>
          <p:nvPr/>
        </p:nvSpPr>
        <p:spPr>
          <a:xfrm>
            <a:off x="5713537" y="3383280"/>
            <a:ext cx="0" cy="1170432"/>
          </a:xfrm>
          <a:prstGeom prst="line">
            <a:avLst/>
          </a:prstGeom>
          <a:noFill/>
          <a:ln w="6350">
            <a:solidFill>
              <a:srgbClr val="F1F1F1"/>
            </a:solidFill>
            <a:prstDash val="dash"/>
          </a:ln>
        </p:spPr>
      </p:sp>
      <p:sp>
        <p:nvSpPr>
          <p:cNvPr id="85" name="Text 73"/>
          <p:cNvSpPr/>
          <p:nvPr/>
        </p:nvSpPr>
        <p:spPr>
          <a:xfrm>
            <a:off x="5484937" y="45720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5</a:t>
            </a:r>
            <a:endParaRPr lang="en-US" sz="550" dirty="0"/>
          </a:p>
        </p:txBody>
      </p:sp>
      <p:sp>
        <p:nvSpPr>
          <p:cNvPr id="86" name="Shape 74"/>
          <p:cNvSpPr/>
          <p:nvPr/>
        </p:nvSpPr>
        <p:spPr>
          <a:xfrm>
            <a:off x="6716817" y="3383280"/>
            <a:ext cx="0" cy="1170432"/>
          </a:xfrm>
          <a:prstGeom prst="line">
            <a:avLst/>
          </a:prstGeom>
          <a:noFill/>
          <a:ln w="6350">
            <a:solidFill>
              <a:srgbClr val="F1F1F1"/>
            </a:solidFill>
            <a:prstDash val="dash"/>
          </a:ln>
        </p:spPr>
      </p:sp>
      <p:sp>
        <p:nvSpPr>
          <p:cNvPr id="87" name="Text 75"/>
          <p:cNvSpPr/>
          <p:nvPr/>
        </p:nvSpPr>
        <p:spPr>
          <a:xfrm>
            <a:off x="6488217" y="45720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</a:t>
            </a:r>
            <a:endParaRPr lang="en-US" sz="550" dirty="0"/>
          </a:p>
        </p:txBody>
      </p:sp>
      <p:sp>
        <p:nvSpPr>
          <p:cNvPr id="88" name="Shape 76"/>
          <p:cNvSpPr/>
          <p:nvPr/>
        </p:nvSpPr>
        <p:spPr>
          <a:xfrm>
            <a:off x="7565746" y="3383280"/>
            <a:ext cx="0" cy="1170432"/>
          </a:xfrm>
          <a:prstGeom prst="line">
            <a:avLst/>
          </a:prstGeom>
          <a:noFill/>
          <a:ln w="6350">
            <a:solidFill>
              <a:srgbClr val="F1F1F1"/>
            </a:solidFill>
            <a:prstDash val="dash"/>
          </a:ln>
        </p:spPr>
      </p:sp>
      <p:sp>
        <p:nvSpPr>
          <p:cNvPr id="89" name="Text 77"/>
          <p:cNvSpPr/>
          <p:nvPr/>
        </p:nvSpPr>
        <p:spPr>
          <a:xfrm>
            <a:off x="7337146" y="45720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</a:t>
            </a:r>
            <a:endParaRPr lang="en-US" sz="550" dirty="0"/>
          </a:p>
        </p:txBody>
      </p:sp>
      <p:sp>
        <p:nvSpPr>
          <p:cNvPr id="90" name="Shape 78"/>
          <p:cNvSpPr/>
          <p:nvPr/>
        </p:nvSpPr>
        <p:spPr>
          <a:xfrm>
            <a:off x="8723376" y="3383280"/>
            <a:ext cx="0" cy="1170432"/>
          </a:xfrm>
          <a:prstGeom prst="line">
            <a:avLst/>
          </a:prstGeom>
          <a:noFill/>
          <a:ln w="6350">
            <a:solidFill>
              <a:srgbClr val="F1F1F1"/>
            </a:solidFill>
            <a:prstDash val="dash"/>
          </a:ln>
        </p:spPr>
      </p:sp>
      <p:sp>
        <p:nvSpPr>
          <p:cNvPr id="91" name="Text 79"/>
          <p:cNvSpPr/>
          <p:nvPr/>
        </p:nvSpPr>
        <p:spPr>
          <a:xfrm>
            <a:off x="8494776" y="45720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</a:t>
            </a:r>
            <a:endParaRPr lang="en-US" sz="550" dirty="0"/>
          </a:p>
        </p:txBody>
      </p:sp>
      <p:sp>
        <p:nvSpPr>
          <p:cNvPr id="92" name="Shape 80"/>
          <p:cNvSpPr/>
          <p:nvPr/>
        </p:nvSpPr>
        <p:spPr>
          <a:xfrm>
            <a:off x="5713537" y="3364992"/>
            <a:ext cx="0" cy="1207008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</p:sp>
      <p:sp>
        <p:nvSpPr>
          <p:cNvPr id="93" name="Text 81"/>
          <p:cNvSpPr/>
          <p:nvPr/>
        </p:nvSpPr>
        <p:spPr>
          <a:xfrm>
            <a:off x="5548945" y="325526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500" dirty="0"/>
          </a:p>
        </p:txBody>
      </p:sp>
      <p:sp>
        <p:nvSpPr>
          <p:cNvPr id="94" name="Shape 82"/>
          <p:cNvSpPr/>
          <p:nvPr/>
        </p:nvSpPr>
        <p:spPr>
          <a:xfrm>
            <a:off x="4864608" y="3419856"/>
            <a:ext cx="848929" cy="141732"/>
          </a:xfrm>
          <a:prstGeom prst="roundRect">
            <a:avLst>
              <a:gd name="adj" fmla="val 19355"/>
            </a:avLst>
          </a:prstGeom>
          <a:solidFill>
            <a:srgbClr val="059669"/>
          </a:solidFill>
          <a:ln/>
        </p:spPr>
      </p:sp>
      <p:sp>
        <p:nvSpPr>
          <p:cNvPr id="95" name="Text 83"/>
          <p:cNvSpPr/>
          <p:nvPr/>
        </p:nvSpPr>
        <p:spPr>
          <a:xfrm>
            <a:off x="4901184" y="3419856"/>
            <a:ext cx="775777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 + Neo4j Validation</a:t>
            </a:r>
            <a:endParaRPr lang="en-US" sz="550" dirty="0"/>
          </a:p>
        </p:txBody>
      </p:sp>
      <p:pic>
        <p:nvPicPr>
          <p:cNvPr id="9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7233" y="3438144"/>
            <a:ext cx="109728" cy="109728"/>
          </a:xfrm>
          <a:prstGeom prst="rect">
            <a:avLst/>
          </a:prstGeom>
        </p:spPr>
      </p:pic>
      <p:sp>
        <p:nvSpPr>
          <p:cNvPr id="97" name="Shape 84"/>
          <p:cNvSpPr/>
          <p:nvPr/>
        </p:nvSpPr>
        <p:spPr>
          <a:xfrm>
            <a:off x="5250485" y="3593592"/>
            <a:ext cx="1466332" cy="141732"/>
          </a:xfrm>
          <a:prstGeom prst="roundRect">
            <a:avLst>
              <a:gd name="adj" fmla="val 19355"/>
            </a:avLst>
          </a:prstGeom>
          <a:solidFill>
            <a:srgbClr val="2563EB"/>
          </a:solidFill>
          <a:ln/>
        </p:spPr>
      </p:sp>
      <p:sp>
        <p:nvSpPr>
          <p:cNvPr id="98" name="Text 85"/>
          <p:cNvSpPr/>
          <p:nvPr/>
        </p:nvSpPr>
        <p:spPr>
          <a:xfrm>
            <a:off x="5287061" y="3593592"/>
            <a:ext cx="13931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Vision-Text Integration</a:t>
            </a:r>
            <a:endParaRPr lang="en-US" sz="550" dirty="0"/>
          </a:p>
        </p:txBody>
      </p:sp>
      <p:sp>
        <p:nvSpPr>
          <p:cNvPr id="99" name="Shape 86"/>
          <p:cNvSpPr/>
          <p:nvPr/>
        </p:nvSpPr>
        <p:spPr>
          <a:xfrm>
            <a:off x="5713537" y="3767328"/>
            <a:ext cx="1852209" cy="141732"/>
          </a:xfrm>
          <a:prstGeom prst="roundRect">
            <a:avLst>
              <a:gd name="adj" fmla="val 19355"/>
            </a:avLst>
          </a:prstGeom>
          <a:solidFill>
            <a:srgbClr val="FFC627"/>
          </a:solidFill>
          <a:ln/>
        </p:spPr>
      </p:sp>
      <p:sp>
        <p:nvSpPr>
          <p:cNvPr id="100" name="Text 87"/>
          <p:cNvSpPr/>
          <p:nvPr/>
        </p:nvSpPr>
        <p:spPr>
          <a:xfrm>
            <a:off x="5750113" y="3767328"/>
            <a:ext cx="1779057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 Generator</a:t>
            </a:r>
            <a:endParaRPr lang="en-US" sz="550" dirty="0"/>
          </a:p>
        </p:txBody>
      </p:sp>
      <p:sp>
        <p:nvSpPr>
          <p:cNvPr id="101" name="Shape 88"/>
          <p:cNvSpPr/>
          <p:nvPr/>
        </p:nvSpPr>
        <p:spPr>
          <a:xfrm>
            <a:off x="5713537" y="3941064"/>
            <a:ext cx="1852209" cy="141732"/>
          </a:xfrm>
          <a:prstGeom prst="roundRect">
            <a:avLst>
              <a:gd name="adj" fmla="val 19355"/>
            </a:avLst>
          </a:prstGeom>
          <a:solidFill>
            <a:srgbClr val="D97706"/>
          </a:solidFill>
          <a:ln/>
        </p:spPr>
      </p:sp>
      <p:sp>
        <p:nvSpPr>
          <p:cNvPr id="102" name="Text 89"/>
          <p:cNvSpPr/>
          <p:nvPr/>
        </p:nvSpPr>
        <p:spPr>
          <a:xfrm>
            <a:off x="5750113" y="3941064"/>
            <a:ext cx="1779057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Critic Layer</a:t>
            </a:r>
            <a:endParaRPr lang="en-US" sz="550" dirty="0"/>
          </a:p>
        </p:txBody>
      </p:sp>
      <p:sp>
        <p:nvSpPr>
          <p:cNvPr id="103" name="Shape 90"/>
          <p:cNvSpPr/>
          <p:nvPr/>
        </p:nvSpPr>
        <p:spPr>
          <a:xfrm>
            <a:off x="6716817" y="4114800"/>
            <a:ext cx="848929" cy="141732"/>
          </a:xfrm>
          <a:prstGeom prst="roundRect">
            <a:avLst>
              <a:gd name="adj" fmla="val 19355"/>
            </a:avLst>
          </a:prstGeom>
          <a:solidFill>
            <a:srgbClr val="8C1D40"/>
          </a:solidFill>
          <a:ln/>
        </p:spPr>
      </p:sp>
      <p:sp>
        <p:nvSpPr>
          <p:cNvPr id="104" name="Text 91"/>
          <p:cNvSpPr/>
          <p:nvPr/>
        </p:nvSpPr>
        <p:spPr>
          <a:xfrm>
            <a:off x="6753393" y="4114800"/>
            <a:ext cx="775777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550" dirty="0"/>
          </a:p>
        </p:txBody>
      </p:sp>
      <p:sp>
        <p:nvSpPr>
          <p:cNvPr id="105" name="Shape 92"/>
          <p:cNvSpPr/>
          <p:nvPr/>
        </p:nvSpPr>
        <p:spPr>
          <a:xfrm>
            <a:off x="7565746" y="4288536"/>
            <a:ext cx="1157630" cy="141732"/>
          </a:xfrm>
          <a:prstGeom prst="roundRect">
            <a:avLst>
              <a:gd name="adj" fmla="val 19355"/>
            </a:avLst>
          </a:prstGeom>
          <a:solidFill>
            <a:srgbClr val="374151"/>
          </a:solidFill>
          <a:ln/>
        </p:spPr>
      </p:sp>
      <p:sp>
        <p:nvSpPr>
          <p:cNvPr id="106" name="Text 93"/>
          <p:cNvSpPr/>
          <p:nvPr/>
        </p:nvSpPr>
        <p:spPr>
          <a:xfrm>
            <a:off x="7602322" y="4288536"/>
            <a:ext cx="108447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 &amp; Report</a:t>
            </a:r>
            <a:endParaRPr lang="en-US" sz="550" dirty="0"/>
          </a:p>
        </p:txBody>
      </p:sp>
      <p:sp>
        <p:nvSpPr>
          <p:cNvPr id="107" name="Shape 94"/>
          <p:cNvSpPr/>
          <p:nvPr/>
        </p:nvSpPr>
        <p:spPr>
          <a:xfrm>
            <a:off x="7510882" y="4407408"/>
            <a:ext cx="109728" cy="109728"/>
          </a:xfrm>
          <a:prstGeom prst="diamond">
            <a:avLst/>
          </a:prstGeom>
          <a:solidFill>
            <a:srgbClr val="8C1D40"/>
          </a:solidFill>
          <a:ln/>
        </p:spPr>
      </p:sp>
      <p:sp>
        <p:nvSpPr>
          <p:cNvPr id="108" name="Text 95"/>
          <p:cNvSpPr/>
          <p:nvPr/>
        </p:nvSpPr>
        <p:spPr>
          <a:xfrm>
            <a:off x="7428586" y="451713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CP2</a:t>
            </a:r>
            <a:endParaRPr lang="en-US" sz="500" dirty="0"/>
          </a:p>
        </p:txBody>
      </p:sp>
      <p:sp>
        <p:nvSpPr>
          <p:cNvPr id="109" name="Shape 96"/>
          <p:cNvSpPr/>
          <p:nvPr/>
        </p:nvSpPr>
        <p:spPr>
          <a:xfrm>
            <a:off x="8668512" y="4407408"/>
            <a:ext cx="109728" cy="109728"/>
          </a:xfrm>
          <a:prstGeom prst="diamond">
            <a:avLst/>
          </a:prstGeom>
          <a:solidFill>
            <a:srgbClr val="FFC627"/>
          </a:solidFill>
          <a:ln/>
        </p:spPr>
      </p:sp>
      <p:sp>
        <p:nvSpPr>
          <p:cNvPr id="110" name="Text 97"/>
          <p:cNvSpPr/>
          <p:nvPr/>
        </p:nvSpPr>
        <p:spPr>
          <a:xfrm>
            <a:off x="8558784" y="451713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6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500" dirty="0"/>
          </a:p>
        </p:txBody>
      </p:sp>
      <p:sp>
        <p:nvSpPr>
          <p:cNvPr id="111" name="Shape 9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12" name="Shape 99"/>
          <p:cNvSpPr/>
          <p:nvPr/>
        </p:nvSpPr>
        <p:spPr>
          <a:xfrm>
            <a:off x="0" y="4896612"/>
            <a:ext cx="9144000" cy="2286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113" name="Text 100"/>
          <p:cNvSpPr/>
          <p:nvPr/>
        </p:nvSpPr>
        <p:spPr>
          <a:xfrm>
            <a:off x="320040" y="4919472"/>
            <a:ext cx="5029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Pragyan Borthakur  |  Arizona State University  |  Capstone Project</a:t>
            </a:r>
            <a:endParaRPr lang="en-US" sz="750" dirty="0"/>
          </a:p>
        </p:txBody>
      </p:sp>
      <p:sp>
        <p:nvSpPr>
          <p:cNvPr id="114" name="Text 101"/>
          <p:cNvSpPr/>
          <p:nvPr/>
        </p:nvSpPr>
        <p:spPr>
          <a:xfrm>
            <a:off x="5029200" y="4919472"/>
            <a:ext cx="37947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 |  April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TrustMed AI - Checkpoint 2 Quad Chart</dc:title>
  <dc:subject>PptxGenJS Presentation</dc:subject>
  <dc:creator>Pragyan Borthakur</dc:creator>
  <cp:lastModifiedBy>Pragyan Borthakur</cp:lastModifiedBy>
  <cp:revision>1</cp:revision>
  <dcterms:created xsi:type="dcterms:W3CDTF">2026-03-07T01:04:13Z</dcterms:created>
  <dcterms:modified xsi:type="dcterms:W3CDTF">2026-03-07T01:04:13Z</dcterms:modified>
</cp:coreProperties>
</file>